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ADMIN\Desktop\Promod%20power%20bi%20case%20study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ADMIN\Desktop\Promod%20power%20bi%20case%20study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Promod%20power%20bi%20case%20stud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[Promod power bi case study.xlsx]Sheet2!PivotTable1</c:name>
    <c:fmtId val="12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Sheet2!$B$3</c:f>
              <c:strCache>
                <c:ptCount val="1"/>
                <c:pt idx="0">
                  <c:v>Total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1">
                    <a:shade val="74000"/>
                    <a:satMod val="130000"/>
                    <a:lumMod val="90000"/>
                  </a:schemeClr>
                  <a:schemeClr val="accent1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cat>
            <c:strRef>
              <c:f>Sheet2!$A$4:$A$14</c:f>
              <c:strCache>
                <c:ptCount val="10"/>
                <c:pt idx="0">
                  <c:v>Ahmedabad</c:v>
                </c:pt>
                <c:pt idx="1">
                  <c:v>Bharuch</c:v>
                </c:pt>
                <c:pt idx="2">
                  <c:v>Bhavnagar</c:v>
                </c:pt>
                <c:pt idx="3">
                  <c:v>Gandhidham</c:v>
                </c:pt>
                <c:pt idx="4">
                  <c:v>Jamnagar</c:v>
                </c:pt>
                <c:pt idx="5">
                  <c:v>Rajkot</c:v>
                </c:pt>
                <c:pt idx="6">
                  <c:v>Sanand</c:v>
                </c:pt>
                <c:pt idx="7">
                  <c:v>Surat</c:v>
                </c:pt>
                <c:pt idx="8">
                  <c:v>Vadodara</c:v>
                </c:pt>
                <c:pt idx="9">
                  <c:v>Vapi</c:v>
                </c:pt>
              </c:strCache>
            </c:strRef>
          </c:cat>
          <c:val>
            <c:numRef>
              <c:f>Sheet2!$B$4:$B$14</c:f>
              <c:numCache>
                <c:formatCode>General</c:formatCode>
                <c:ptCount val="10"/>
                <c:pt idx="0">
                  <c:v>175</c:v>
                </c:pt>
                <c:pt idx="1">
                  <c:v>146</c:v>
                </c:pt>
                <c:pt idx="2">
                  <c:v>134</c:v>
                </c:pt>
                <c:pt idx="3">
                  <c:v>132</c:v>
                </c:pt>
                <c:pt idx="4">
                  <c:v>157</c:v>
                </c:pt>
                <c:pt idx="5">
                  <c:v>144</c:v>
                </c:pt>
                <c:pt idx="6">
                  <c:v>162</c:v>
                </c:pt>
                <c:pt idx="7">
                  <c:v>166</c:v>
                </c:pt>
                <c:pt idx="8">
                  <c:v>160</c:v>
                </c:pt>
                <c:pt idx="9">
                  <c:v>166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FC-4CB4-A0CF-85ABAFA5E1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610563648"/>
        <c:axId val="610564008"/>
      </c:barChart>
      <c:catAx>
        <c:axId val="610563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64008"/>
        <c:crosses val="autoZero"/>
        <c:auto val="1"/>
        <c:lblAlgn val="ctr"/>
        <c:lblOffset val="100"/>
        <c:noMultiLvlLbl val="0"/>
      </c:catAx>
      <c:valAx>
        <c:axId val="610564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6364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[Promod power bi case study.xlsx]Sheet3!PivotTable2</c:name>
    <c:fmtId val="10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square"/>
          <c:size val="5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triangle"/>
          <c:size val="5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Sum of Raw Material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1">
                    <a:shade val="74000"/>
                    <a:satMod val="130000"/>
                    <a:lumMod val="90000"/>
                  </a:schemeClr>
                  <a:schemeClr val="accent1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Sheet3!$A$4:$A$14</c:f>
              <c:strCache>
                <c:ptCount val="10"/>
                <c:pt idx="0">
                  <c:v>Ahmedabad</c:v>
                </c:pt>
                <c:pt idx="1">
                  <c:v>Bharuch</c:v>
                </c:pt>
                <c:pt idx="2">
                  <c:v>Bhavnagar</c:v>
                </c:pt>
                <c:pt idx="3">
                  <c:v>Gandhidham</c:v>
                </c:pt>
                <c:pt idx="4">
                  <c:v>Jamnagar</c:v>
                </c:pt>
                <c:pt idx="5">
                  <c:v>Rajkot</c:v>
                </c:pt>
                <c:pt idx="6">
                  <c:v>Sanand</c:v>
                </c:pt>
                <c:pt idx="7">
                  <c:v>Surat</c:v>
                </c:pt>
                <c:pt idx="8">
                  <c:v>Vadodara</c:v>
                </c:pt>
                <c:pt idx="9">
                  <c:v>Vapi</c:v>
                </c:pt>
              </c:strCache>
            </c:strRef>
          </c:cat>
          <c:val>
            <c:numRef>
              <c:f>Sheet3!$B$4:$B$14</c:f>
              <c:numCache>
                <c:formatCode>General</c:formatCode>
                <c:ptCount val="10"/>
                <c:pt idx="0">
                  <c:v>40</c:v>
                </c:pt>
                <c:pt idx="1">
                  <c:v>34</c:v>
                </c:pt>
                <c:pt idx="2">
                  <c:v>33</c:v>
                </c:pt>
                <c:pt idx="3">
                  <c:v>32</c:v>
                </c:pt>
                <c:pt idx="4">
                  <c:v>36</c:v>
                </c:pt>
                <c:pt idx="5">
                  <c:v>35</c:v>
                </c:pt>
                <c:pt idx="6">
                  <c:v>42</c:v>
                </c:pt>
                <c:pt idx="7">
                  <c:v>39</c:v>
                </c:pt>
                <c:pt idx="8">
                  <c:v>38</c:v>
                </c:pt>
                <c:pt idx="9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6E-4B5A-B98F-3C960CAD9B8D}"/>
            </c:ext>
          </c:extLst>
        </c:ser>
        <c:ser>
          <c:idx val="1"/>
          <c:order val="1"/>
          <c:tx>
            <c:strRef>
              <c:f>Sheet3!$C$3</c:f>
              <c:strCache>
                <c:ptCount val="1"/>
                <c:pt idx="0">
                  <c:v>Sum of Maintenance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2">
                    <a:shade val="74000"/>
                    <a:satMod val="130000"/>
                    <a:lumMod val="90000"/>
                  </a:schemeClr>
                  <a:schemeClr val="accent2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Sheet3!$A$4:$A$14</c:f>
              <c:strCache>
                <c:ptCount val="10"/>
                <c:pt idx="0">
                  <c:v>Ahmedabad</c:v>
                </c:pt>
                <c:pt idx="1">
                  <c:v>Bharuch</c:v>
                </c:pt>
                <c:pt idx="2">
                  <c:v>Bhavnagar</c:v>
                </c:pt>
                <c:pt idx="3">
                  <c:v>Gandhidham</c:v>
                </c:pt>
                <c:pt idx="4">
                  <c:v>Jamnagar</c:v>
                </c:pt>
                <c:pt idx="5">
                  <c:v>Rajkot</c:v>
                </c:pt>
                <c:pt idx="6">
                  <c:v>Sanand</c:v>
                </c:pt>
                <c:pt idx="7">
                  <c:v>Surat</c:v>
                </c:pt>
                <c:pt idx="8">
                  <c:v>Vadodara</c:v>
                </c:pt>
                <c:pt idx="9">
                  <c:v>Vapi</c:v>
                </c:pt>
              </c:strCache>
            </c:strRef>
          </c:cat>
          <c:val>
            <c:numRef>
              <c:f>Sheet3!$C$4:$C$14</c:f>
              <c:numCache>
                <c:formatCode>General</c:formatCode>
                <c:ptCount val="10"/>
                <c:pt idx="0">
                  <c:v>10</c:v>
                </c:pt>
                <c:pt idx="1">
                  <c:v>8</c:v>
                </c:pt>
                <c:pt idx="2">
                  <c:v>8</c:v>
                </c:pt>
                <c:pt idx="3">
                  <c:v>7</c:v>
                </c:pt>
                <c:pt idx="4">
                  <c:v>9</c:v>
                </c:pt>
                <c:pt idx="5">
                  <c:v>8</c:v>
                </c:pt>
                <c:pt idx="6">
                  <c:v>10</c:v>
                </c:pt>
                <c:pt idx="7">
                  <c:v>10</c:v>
                </c:pt>
                <c:pt idx="8">
                  <c:v>9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6E-4B5A-B98F-3C960CAD9B8D}"/>
            </c:ext>
          </c:extLst>
        </c:ser>
        <c:ser>
          <c:idx val="2"/>
          <c:order val="2"/>
          <c:tx>
            <c:strRef>
              <c:f>Sheet3!$D$3</c:f>
              <c:strCache>
                <c:ptCount val="1"/>
                <c:pt idx="0">
                  <c:v>Sum of Packaging &amp; Other</c:v>
                </c:pt>
              </c:strCache>
            </c:strRef>
          </c:tx>
          <c:spPr>
            <a:blipFill>
              <a:blip xmlns:r="http://schemas.openxmlformats.org/officeDocument/2006/relationships" r:embed="rId3">
                <a:duotone>
                  <a:schemeClr val="accent3">
                    <a:shade val="74000"/>
                    <a:satMod val="130000"/>
                    <a:lumMod val="90000"/>
                  </a:schemeClr>
                  <a:schemeClr val="accent3">
                    <a:tint val="94000"/>
                    <a:satMod val="120000"/>
                    <a:lumMod val="104000"/>
                  </a:schemeClr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38100" dist="25400" dir="5400000" rotWithShape="0">
                <a:srgbClr val="000000">
                  <a:alpha val="60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Sheet3!$A$4:$A$14</c:f>
              <c:strCache>
                <c:ptCount val="10"/>
                <c:pt idx="0">
                  <c:v>Ahmedabad</c:v>
                </c:pt>
                <c:pt idx="1">
                  <c:v>Bharuch</c:v>
                </c:pt>
                <c:pt idx="2">
                  <c:v>Bhavnagar</c:v>
                </c:pt>
                <c:pt idx="3">
                  <c:v>Gandhidham</c:v>
                </c:pt>
                <c:pt idx="4">
                  <c:v>Jamnagar</c:v>
                </c:pt>
                <c:pt idx="5">
                  <c:v>Rajkot</c:v>
                </c:pt>
                <c:pt idx="6">
                  <c:v>Sanand</c:v>
                </c:pt>
                <c:pt idx="7">
                  <c:v>Surat</c:v>
                </c:pt>
                <c:pt idx="8">
                  <c:v>Vadodara</c:v>
                </c:pt>
                <c:pt idx="9">
                  <c:v>Vapi</c:v>
                </c:pt>
              </c:strCache>
            </c:strRef>
          </c:cat>
          <c:val>
            <c:numRef>
              <c:f>Sheet3!$D$4:$D$14</c:f>
              <c:numCache>
                <c:formatCode>General</c:formatCode>
                <c:ptCount val="10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6E-4B5A-B98F-3C960CAD9B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353136480"/>
        <c:axId val="610570488"/>
      </c:barChart>
      <c:catAx>
        <c:axId val="353136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0570488"/>
        <c:crosses val="autoZero"/>
        <c:auto val="1"/>
        <c:lblAlgn val="ctr"/>
        <c:lblOffset val="100"/>
        <c:noMultiLvlLbl val="0"/>
      </c:catAx>
      <c:valAx>
        <c:axId val="610570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31364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[Promod power bi case study.xlsx]Sheet6!PivotTable5</c:name>
    <c:fmtId val="10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Sheet6!$B$3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0ADE-4085-8AFF-3015DA81608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0ADE-4085-8AFF-3015DA8160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0ADE-4085-8AFF-3015DA81608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7-0ADE-4085-8AFF-3015DA81608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9-0ADE-4085-8AFF-3015DA81608B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B-0ADE-4085-8AFF-3015DA81608B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D-0ADE-4085-8AFF-3015DA81608B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F-0ADE-4085-8AFF-3015DA81608B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11-0ADE-4085-8AFF-3015DA81608B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13-0ADE-4085-8AFF-3015DA81608B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Sheet6!$A$4:$A$14</c:f>
              <c:strCache>
                <c:ptCount val="10"/>
                <c:pt idx="0">
                  <c:v>Ahmedabad</c:v>
                </c:pt>
                <c:pt idx="1">
                  <c:v>Bharuch</c:v>
                </c:pt>
                <c:pt idx="2">
                  <c:v>Bhavnagar</c:v>
                </c:pt>
                <c:pt idx="3">
                  <c:v>Gandhidham</c:v>
                </c:pt>
                <c:pt idx="4">
                  <c:v>Jamnagar</c:v>
                </c:pt>
                <c:pt idx="5">
                  <c:v>Rajkot</c:v>
                </c:pt>
                <c:pt idx="6">
                  <c:v>Sanand</c:v>
                </c:pt>
                <c:pt idx="7">
                  <c:v>Surat</c:v>
                </c:pt>
                <c:pt idx="8">
                  <c:v>Vadodara</c:v>
                </c:pt>
                <c:pt idx="9">
                  <c:v>Vapi</c:v>
                </c:pt>
              </c:strCache>
            </c:strRef>
          </c:cat>
          <c:val>
            <c:numRef>
              <c:f>Sheet6!$B$4:$B$14</c:f>
              <c:numCache>
                <c:formatCode>General</c:formatCode>
                <c:ptCount val="10"/>
                <c:pt idx="0">
                  <c:v>100</c:v>
                </c:pt>
                <c:pt idx="1">
                  <c:v>75</c:v>
                </c:pt>
                <c:pt idx="2">
                  <c:v>65</c:v>
                </c:pt>
                <c:pt idx="3">
                  <c:v>60</c:v>
                </c:pt>
                <c:pt idx="4">
                  <c:v>70</c:v>
                </c:pt>
                <c:pt idx="5">
                  <c:v>80</c:v>
                </c:pt>
                <c:pt idx="6">
                  <c:v>110</c:v>
                </c:pt>
                <c:pt idx="7">
                  <c:v>95</c:v>
                </c:pt>
                <c:pt idx="8">
                  <c:v>90</c:v>
                </c:pt>
                <c:pt idx="9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0ADE-4085-8AFF-3015DA81608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75266-FFD2-4733-B8ED-5A0EEBE8AEBE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1B15C-C25E-4F9C-BE11-C9B90DD5C1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125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A1B15C-C25E-4F9C-BE11-C9B90DD5C14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854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18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66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50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01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4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219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580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277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55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98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3440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462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006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783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482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4610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36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303B66-8B5C-4475-9139-9CA48A8E16D9}" type="datetimeFigureOut">
              <a:rPr lang="en-IN" smtClean="0"/>
              <a:t>14-03-2026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1BFC56-21B2-4AC3-8AAE-C03E4EF86A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50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5" r:id="rId14"/>
    <p:sldLayoutId id="2147483886" r:id="rId15"/>
    <p:sldLayoutId id="2147483887" r:id="rId16"/>
    <p:sldLayoutId id="214748388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FD53-BA80-AFB8-B23A-D36DABFEB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70" y="1873188"/>
            <a:ext cx="10582182" cy="2654424"/>
          </a:xfrm>
        </p:spPr>
        <p:txBody>
          <a:bodyPr>
            <a:noAutofit/>
          </a:bodyPr>
          <a:lstStyle/>
          <a:p>
            <a:r>
              <a:rPr lang="en-US" sz="7000" dirty="0"/>
              <a:t>Gujarat Reusable </a:t>
            </a:r>
            <a:br>
              <a:rPr lang="en-US" sz="7000" dirty="0"/>
            </a:br>
            <a:r>
              <a:rPr lang="en-US" sz="7000" dirty="0"/>
              <a:t>Battery Factory</a:t>
            </a:r>
            <a:endParaRPr lang="en-IN" sz="7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683A2-7C87-CF9B-DB10-0C5E80232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91596"/>
            <a:ext cx="9144000" cy="366204"/>
          </a:xfrm>
        </p:spPr>
        <p:txBody>
          <a:bodyPr>
            <a:normAutofit fontScale="47500" lnSpcReduction="20000"/>
          </a:bodyPr>
          <a:lstStyle/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6712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ECFA4-86C5-C3FE-B126-49899472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65AF0-1BDE-F7A4-362C-E02D4660C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I will present the best location in Gujarat to set up a reusable battery manufacturing factory.</a:t>
            </a:r>
          </a:p>
          <a:p>
            <a:r>
              <a:rPr lang="en-US" dirty="0"/>
              <a:t>The company wants to set up one manufacturing plant in Gujarat with a total budget of 250Core, which includes capital investment and the first year operational cost.</a:t>
            </a:r>
          </a:p>
          <a:p>
            <a:r>
              <a:rPr lang="en-US" dirty="0"/>
              <a:t>The main point of this analysis is to maximize profit and minimize business risk.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554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C56CB-68F8-CB28-1549-84486A26E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 for case study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37605-1E56-3490-59BC-93B271F09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Choosing a factory location is very critical business decision, because it affects:</a:t>
            </a:r>
          </a:p>
          <a:p>
            <a:pPr>
              <a:buFontTx/>
              <a:buChar char="-"/>
            </a:pPr>
            <a:r>
              <a:rPr lang="en-IN" dirty="0"/>
              <a:t>Production cost </a:t>
            </a:r>
          </a:p>
          <a:p>
            <a:pPr>
              <a:buFontTx/>
              <a:buChar char="-"/>
            </a:pPr>
            <a:r>
              <a:rPr lang="en-IN" dirty="0"/>
              <a:t>Supply chain efficiency</a:t>
            </a:r>
          </a:p>
          <a:p>
            <a:pPr>
              <a:buFontTx/>
              <a:buChar char="-"/>
            </a:pPr>
            <a:r>
              <a:rPr lang="en-IN" dirty="0"/>
              <a:t>Market access</a:t>
            </a:r>
          </a:p>
          <a:p>
            <a:pPr>
              <a:buFontTx/>
              <a:buChar char="-"/>
            </a:pPr>
            <a:r>
              <a:rPr lang="en-IN" dirty="0"/>
              <a:t>Long-term growth</a:t>
            </a:r>
          </a:p>
          <a:p>
            <a:pPr>
              <a:buFontTx/>
              <a:buChar char="-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0841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2B029-D98F-7CBF-CECF-5489AAA51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775647"/>
          </a:xfrm>
        </p:spPr>
        <p:txBody>
          <a:bodyPr/>
          <a:lstStyle/>
          <a:p>
            <a:r>
              <a:rPr lang="en-US" dirty="0"/>
              <a:t>Cities Considered in the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D49A2-5D13-3848-DE37-16ECF23C9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4974"/>
          </a:xfrm>
        </p:spPr>
        <p:txBody>
          <a:bodyPr>
            <a:normAutofit/>
          </a:bodyPr>
          <a:lstStyle/>
          <a:p>
            <a:r>
              <a:rPr lang="en-US" sz="2400" dirty="0"/>
              <a:t>For this , we analyzed 10 major cities in Gujarat</a:t>
            </a:r>
          </a:p>
          <a:p>
            <a:r>
              <a:rPr lang="en-IN" sz="2400" dirty="0"/>
              <a:t>                                                                         </a:t>
            </a:r>
          </a:p>
          <a:p>
            <a:endParaRPr lang="en-IN" sz="2400" dirty="0"/>
          </a:p>
          <a:p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r>
              <a:rPr lang="en-IN" sz="1800" dirty="0"/>
              <a:t>Each city was evaluated based on three main part:</a:t>
            </a:r>
          </a:p>
          <a:p>
            <a:pPr marL="514350" indent="-514350">
              <a:buAutoNum type="arabicPeriod"/>
            </a:pPr>
            <a:r>
              <a:rPr lang="en-IN" sz="1800" dirty="0"/>
              <a:t>Factory setup Cost</a:t>
            </a:r>
          </a:p>
          <a:p>
            <a:pPr marL="514350" indent="-514350">
              <a:buAutoNum type="arabicPeriod"/>
            </a:pPr>
            <a:r>
              <a:rPr lang="en-IN" sz="1800" dirty="0"/>
              <a:t>Operational expenses</a:t>
            </a:r>
          </a:p>
          <a:p>
            <a:pPr marL="514350" indent="-514350">
              <a:buAutoNum type="arabicPeriod"/>
            </a:pPr>
            <a:r>
              <a:rPr lang="en-IN" sz="1800" dirty="0"/>
              <a:t>Revenue potential and market access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67AA8C-9D9B-287B-2440-153BA05E1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086784"/>
              </p:ext>
            </p:extLst>
          </p:nvPr>
        </p:nvGraphicFramePr>
        <p:xfrm>
          <a:off x="1180731" y="2512381"/>
          <a:ext cx="1553592" cy="19619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3592">
                  <a:extLst>
                    <a:ext uri="{9D8B030D-6E8A-4147-A177-3AD203B41FA5}">
                      <a16:colId xmlns:a16="http://schemas.microsoft.com/office/drawing/2014/main" val="2420364090"/>
                    </a:ext>
                  </a:extLst>
                </a:gridCol>
              </a:tblGrid>
              <a:tr h="1961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Ahmedabad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1910158"/>
                  </a:ext>
                </a:extLst>
              </a:tr>
              <a:tr h="1961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Vadodara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2787145"/>
                  </a:ext>
                </a:extLst>
              </a:tr>
              <a:tr h="1961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Surat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55803702"/>
                  </a:ext>
                </a:extLst>
              </a:tr>
              <a:tr h="1961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Rajkot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7432652"/>
                  </a:ext>
                </a:extLst>
              </a:tr>
              <a:tr h="1961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Jamnagar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7663443"/>
                  </a:ext>
                </a:extLst>
              </a:tr>
              <a:tr h="1961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Bharuch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1869493"/>
                  </a:ext>
                </a:extLst>
              </a:tr>
              <a:tr h="1961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Vapi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3761763"/>
                  </a:ext>
                </a:extLst>
              </a:tr>
              <a:tr h="1961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Sanand</a:t>
                      </a:r>
                      <a:endParaRPr lang="en-IN" sz="1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57542509"/>
                  </a:ext>
                </a:extLst>
              </a:tr>
              <a:tr h="1961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Bhavnagar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3937879"/>
                  </a:ext>
                </a:extLst>
              </a:tr>
              <a:tr h="196197"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Gandhidham</a:t>
                      </a:r>
                      <a:endParaRPr lang="en-IN" sz="1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3820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130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0662-21D4-C2B8-4AA1-5329637A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Factory Setup Cost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FC2FE-BA3D-967B-6EDD-14E75069C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4800" dirty="0"/>
              <a:t>The First factor we analyzed was factory setup cost.</a:t>
            </a:r>
          </a:p>
          <a:p>
            <a:pPr lvl="1"/>
            <a:r>
              <a:rPr lang="en-IN" sz="4800" dirty="0"/>
              <a:t>Land &amp; construction cost</a:t>
            </a:r>
          </a:p>
          <a:p>
            <a:pPr lvl="1"/>
            <a:r>
              <a:rPr lang="en-IN" sz="4800" dirty="0"/>
              <a:t>Machinery &amp; setup cost</a:t>
            </a:r>
          </a:p>
          <a:p>
            <a:pPr lvl="1"/>
            <a:r>
              <a:rPr lang="en-IN" sz="4800" dirty="0"/>
              <a:t>Labor cost</a:t>
            </a:r>
          </a:p>
          <a:p>
            <a:pPr lvl="1"/>
            <a:r>
              <a:rPr lang="en-IN" sz="4800" dirty="0"/>
              <a:t>Utilities &amp; power</a:t>
            </a:r>
          </a:p>
          <a:p>
            <a:pPr lvl="1"/>
            <a:r>
              <a:rPr lang="en-IN" sz="4800" dirty="0"/>
              <a:t>Logistics &amp; delivery</a:t>
            </a:r>
          </a:p>
          <a:p>
            <a:pPr lvl="1"/>
            <a:r>
              <a:rPr lang="en-IN" sz="4800" dirty="0"/>
              <a:t>Compliance / legal</a:t>
            </a:r>
            <a:endParaRPr lang="en-US" sz="4000" dirty="0"/>
          </a:p>
          <a:p>
            <a:pPr marL="0" indent="0">
              <a:buNone/>
            </a:pPr>
            <a:r>
              <a:rPr lang="en-US" sz="4800" dirty="0"/>
              <a:t>  For Eg:</a:t>
            </a:r>
          </a:p>
          <a:p>
            <a:pPr marL="0" indent="0">
              <a:buNone/>
            </a:pPr>
            <a:r>
              <a:rPr lang="en-US" sz="4800" dirty="0"/>
              <a:t> The total setup cost in </a:t>
            </a:r>
            <a:r>
              <a:rPr lang="en-US" sz="4800" b="1" i="1" u="sng" dirty="0">
                <a:solidFill>
                  <a:srgbClr val="FF0000"/>
                </a:solidFill>
              </a:rPr>
              <a:t>Sanand</a:t>
            </a:r>
            <a:r>
              <a:rPr lang="en-US" sz="4800" dirty="0"/>
              <a:t> is</a:t>
            </a:r>
          </a:p>
          <a:p>
            <a:pPr marL="0" indent="0">
              <a:buNone/>
            </a:pPr>
            <a:r>
              <a:rPr lang="en-US" sz="4800" b="1" i="1" u="sng" dirty="0">
                <a:solidFill>
                  <a:srgbClr val="FF0000"/>
                </a:solidFill>
              </a:rPr>
              <a:t> 162Crore</a:t>
            </a:r>
            <a:r>
              <a:rPr lang="en-US" sz="4800" dirty="0"/>
              <a:t>, while in some other cities it </a:t>
            </a:r>
          </a:p>
          <a:p>
            <a:pPr marL="0" indent="0">
              <a:buNone/>
            </a:pPr>
            <a:r>
              <a:rPr lang="en-US" sz="4800" dirty="0"/>
              <a:t> Ranges between 132crore and </a:t>
            </a:r>
          </a:p>
          <a:p>
            <a:pPr marL="0" indent="0">
              <a:buNone/>
            </a:pPr>
            <a:r>
              <a:rPr lang="en-US" sz="4800" dirty="0"/>
              <a:t> 175Crore.</a:t>
            </a:r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8EC9FB1-8016-EB28-A531-876AB005C4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8799559"/>
              </p:ext>
            </p:extLst>
          </p:nvPr>
        </p:nvGraphicFramePr>
        <p:xfrm>
          <a:off x="4785064" y="2556933"/>
          <a:ext cx="6568736" cy="3318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69336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C026D-5107-3458-B9B4-589D4A49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Cost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A1F2A-B893-44B9-A692-88D507B11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Next factor we evaluated was operational expenses for first year.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sz="1500" dirty="0"/>
              <a:t>The total operational expenses in </a:t>
            </a:r>
            <a:r>
              <a:rPr lang="en-IN" sz="1500" b="1" i="1" u="sng" dirty="0">
                <a:solidFill>
                  <a:srgbClr val="FF0000"/>
                </a:solidFill>
              </a:rPr>
              <a:t>Sanand</a:t>
            </a:r>
            <a:r>
              <a:rPr lang="en-IN" sz="1500" dirty="0"/>
              <a:t> is </a:t>
            </a:r>
            <a:r>
              <a:rPr lang="en-IN" sz="1500" b="1" i="1" u="sng" dirty="0">
                <a:solidFill>
                  <a:srgbClr val="FF0000"/>
                </a:solidFill>
              </a:rPr>
              <a:t>57Crore</a:t>
            </a:r>
            <a:r>
              <a:rPr lang="en-IN" sz="1500" dirty="0"/>
              <a:t>. This cost is necessary to maintain continuous production, equipment maintenance and supply chain operations.</a:t>
            </a:r>
          </a:p>
          <a:p>
            <a:pPr marL="0" indent="0">
              <a:buNone/>
            </a:pPr>
            <a:r>
              <a:rPr lang="en-IN" sz="1500" dirty="0"/>
              <a:t>By analyzing operational expenses across cities, we can understand which location allows efficient production with manageable costs. </a:t>
            </a:r>
          </a:p>
          <a:p>
            <a:endParaRPr lang="en-IN" sz="15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71B00A5-BFE0-4D51-1707-B0BD679204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3646312"/>
              </p:ext>
            </p:extLst>
          </p:nvPr>
        </p:nvGraphicFramePr>
        <p:xfrm>
          <a:off x="4829453" y="2947385"/>
          <a:ext cx="6067144" cy="2068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3B9D19E-10FC-BCAB-4481-259224B1C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739028"/>
              </p:ext>
            </p:extLst>
          </p:nvPr>
        </p:nvGraphicFramePr>
        <p:xfrm>
          <a:off x="1846987" y="2947386"/>
          <a:ext cx="2044700" cy="2068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133319943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96481008"/>
                    </a:ext>
                  </a:extLst>
                </a:gridCol>
              </a:tblGrid>
              <a:tr h="1880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city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 Total OPEX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32971686"/>
                  </a:ext>
                </a:extLst>
              </a:tr>
              <a:tr h="1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Ahmedabad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62953122"/>
                  </a:ext>
                </a:extLst>
              </a:tr>
              <a:tr h="1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Bharuch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2371138"/>
                  </a:ext>
                </a:extLst>
              </a:tr>
              <a:tr h="1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Bhavnagar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728520"/>
                  </a:ext>
                </a:extLst>
              </a:tr>
              <a:tr h="1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Gandhidham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35117845"/>
                  </a:ext>
                </a:extLst>
              </a:tr>
              <a:tr h="1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Jamnagar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9792770"/>
                  </a:ext>
                </a:extLst>
              </a:tr>
              <a:tr h="1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Rajkot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47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91705220"/>
                  </a:ext>
                </a:extLst>
              </a:tr>
              <a:tr h="1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Sanand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68599353"/>
                  </a:ext>
                </a:extLst>
              </a:tr>
              <a:tr h="1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Surat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4381801"/>
                  </a:ext>
                </a:extLst>
              </a:tr>
              <a:tr h="1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Vadodara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19381213"/>
                  </a:ext>
                </a:extLst>
              </a:tr>
              <a:tr h="1880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Vapi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52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8519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913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6C6F7-5ADD-8820-3E15-82F5BB477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Potential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14342-26EB-510E-09A7-264F33214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Next, we analyzed the market access and revenue potential for each city.</a:t>
            </a:r>
          </a:p>
          <a:p>
            <a:r>
              <a:rPr lang="en-US" dirty="0"/>
              <a:t>Revenue Potential depends 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Nearby industrial markets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Transportation connectivity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Demand for reusable batteries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Access to automobile and EV industries</a:t>
            </a:r>
          </a:p>
          <a:p>
            <a:pPr marL="0" indent="0">
              <a:buNone/>
            </a:pPr>
            <a:r>
              <a:rPr lang="en-US" sz="1600" dirty="0"/>
              <a:t>Among all cities, </a:t>
            </a:r>
            <a:r>
              <a:rPr lang="en-US" sz="1600" b="1" i="1" u="sng" dirty="0">
                <a:solidFill>
                  <a:srgbClr val="FF0000"/>
                </a:solidFill>
              </a:rPr>
              <a:t>Sanand</a:t>
            </a:r>
            <a:r>
              <a:rPr lang="en-US" sz="1600" dirty="0"/>
              <a:t> has the highest predicted revenue of </a:t>
            </a:r>
            <a:r>
              <a:rPr lang="en-US" sz="1600" b="1" i="1" u="sng" dirty="0">
                <a:solidFill>
                  <a:srgbClr val="FF0000"/>
                </a:solidFill>
              </a:rPr>
              <a:t>110crore</a:t>
            </a:r>
            <a:r>
              <a:rPr lang="en-US" sz="1600" dirty="0"/>
              <a:t> per year. </a:t>
            </a:r>
          </a:p>
          <a:p>
            <a:pPr marL="0" indent="0">
              <a:buNone/>
            </a:pPr>
            <a:r>
              <a:rPr lang="en-US" sz="1600" dirty="0"/>
              <a:t>This mainly because Sanand is located near Ahmedabad and major industrial zones, which create strong demand for battery products. </a:t>
            </a:r>
            <a:r>
              <a:rPr lang="en-US" dirty="0"/>
              <a:t>  </a:t>
            </a:r>
            <a:endParaRPr lang="en-US" sz="1600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E6F9749-154B-2BDB-2470-C3AD049F7F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5022385"/>
              </p:ext>
            </p:extLst>
          </p:nvPr>
        </p:nvGraphicFramePr>
        <p:xfrm>
          <a:off x="7235300" y="3036164"/>
          <a:ext cx="3302493" cy="2139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2904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3B8F4-3A3D-4A92-B55D-85AA128F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/>
                </a:solidFill>
                <a:highlight>
                  <a:srgbClr val="C0C0C0"/>
                </a:highlight>
              </a:rPr>
              <a:t>Why Sanand is the best Location ??</a:t>
            </a:r>
            <a:endParaRPr lang="en-IN" dirty="0">
              <a:solidFill>
                <a:schemeClr val="accent5"/>
              </a:solidFill>
              <a:highlight>
                <a:srgbClr val="C0C0C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F269-E6EA-F887-34F7-30E680B57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After comparing all factors, Sanand emerged as the most suitable location for the factory.</a:t>
            </a:r>
          </a:p>
          <a:p>
            <a:r>
              <a:rPr lang="en-US" dirty="0"/>
              <a:t>There are several reasons for this decision.</a:t>
            </a:r>
          </a:p>
          <a:p>
            <a:pPr marL="514350" indent="-514350">
              <a:buAutoNum type="arabicPeriod"/>
            </a:pPr>
            <a:r>
              <a:rPr lang="en-US" dirty="0"/>
              <a:t>Sanand has the highest revenue forecast among all cities.</a:t>
            </a:r>
          </a:p>
          <a:p>
            <a:pPr marL="514350" indent="-514350">
              <a:buAutoNum type="arabicPeriod"/>
            </a:pPr>
            <a:r>
              <a:rPr lang="en-US" dirty="0"/>
              <a:t>It is a major industrial hub and already hosts many large manufacturing companies.</a:t>
            </a:r>
          </a:p>
          <a:p>
            <a:pPr marL="514350" indent="-514350">
              <a:buAutoNum type="arabicPeriod"/>
            </a:pPr>
            <a:r>
              <a:rPr lang="en-US" dirty="0"/>
              <a:t>Sanand has excellent infrastructure and transportation connectivity, which improves logistics efficiency.</a:t>
            </a:r>
          </a:p>
          <a:p>
            <a:pPr marL="514350" indent="-514350">
              <a:buAutoNum type="arabicPeriod"/>
            </a:pPr>
            <a:r>
              <a:rPr lang="en-US" dirty="0"/>
              <a:t>The area has skilled labor availability and strong industrial ecosystem.</a:t>
            </a:r>
          </a:p>
          <a:p>
            <a:pPr marL="514350" indent="-514350">
              <a:buAutoNum type="arabicPeriod"/>
            </a:pPr>
            <a:r>
              <a:rPr lang="en-US" dirty="0"/>
              <a:t>Gujarat government policies support industrial development in Sanand, making it attractive for manufacturing investment.</a:t>
            </a:r>
          </a:p>
          <a:p>
            <a:pPr marL="0" indent="0">
              <a:buNone/>
            </a:pPr>
            <a:r>
              <a:rPr lang="en-US" dirty="0"/>
              <a:t>Because of this advantages, Sanand offers both strong revenue potential and </a:t>
            </a:r>
          </a:p>
          <a:p>
            <a:pPr marL="0" indent="0">
              <a:buNone/>
            </a:pPr>
            <a:r>
              <a:rPr lang="en-US" dirty="0"/>
              <a:t>Long-term business growth opportunities.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7224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D559-B7E0-2CEF-4910-DCC6A8396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Factory Setup Cost Recovery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D9BBE-C270-8F99-A199-E4E1DAD0A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Total setup Cost =162crore</a:t>
            </a:r>
          </a:p>
          <a:p>
            <a:r>
              <a:rPr lang="en-US" dirty="0"/>
              <a:t>If profit grows 10% every year, the recovery will look like this: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000" dirty="0"/>
              <a:t>So the 162Cr setup cost is fully recovered during year3.</a:t>
            </a:r>
          </a:p>
          <a:p>
            <a:r>
              <a:rPr lang="en-US" sz="2000" dirty="0"/>
              <a:t>This is a very strong investment because manufacturing companies normally take 5-7 years for recovery.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2C0DEB-F15A-E818-A2C4-A59AB611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287221"/>
              </p:ext>
            </p:extLst>
          </p:nvPr>
        </p:nvGraphicFramePr>
        <p:xfrm>
          <a:off x="1677877" y="3542188"/>
          <a:ext cx="3515559" cy="1500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3372">
                  <a:extLst>
                    <a:ext uri="{9D8B030D-6E8A-4147-A177-3AD203B41FA5}">
                      <a16:colId xmlns:a16="http://schemas.microsoft.com/office/drawing/2014/main" val="2661845536"/>
                    </a:ext>
                  </a:extLst>
                </a:gridCol>
                <a:gridCol w="953372">
                  <a:extLst>
                    <a:ext uri="{9D8B030D-6E8A-4147-A177-3AD203B41FA5}">
                      <a16:colId xmlns:a16="http://schemas.microsoft.com/office/drawing/2014/main" val="2434799319"/>
                    </a:ext>
                  </a:extLst>
                </a:gridCol>
                <a:gridCol w="1608815">
                  <a:extLst>
                    <a:ext uri="{9D8B030D-6E8A-4147-A177-3AD203B41FA5}">
                      <a16:colId xmlns:a16="http://schemas.microsoft.com/office/drawing/2014/main" val="2135669936"/>
                    </a:ext>
                  </a:extLst>
                </a:gridCol>
              </a:tblGrid>
              <a:tr h="3750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Profit(Cr)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Total Recovered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4140682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18417480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0397140"/>
                  </a:ext>
                </a:extLst>
              </a:tr>
              <a:tr h="37508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175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05648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165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9ACE-2B74-C1A2-87CF-5039E6D02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After 5 Years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A978E-8A30-4126-8DA4-DACBC83FD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Profit Grows about 10% per Year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Total Profit in 5 years</a:t>
            </a:r>
          </a:p>
          <a:p>
            <a:pPr marL="0" indent="0">
              <a:buNone/>
            </a:pPr>
            <a:r>
              <a:rPr lang="en-IN" dirty="0"/>
              <a:t>=322Crore</a:t>
            </a:r>
          </a:p>
          <a:p>
            <a:pPr marL="0" indent="0">
              <a:buNone/>
            </a:pPr>
            <a:r>
              <a:rPr lang="en-IN" dirty="0"/>
              <a:t>After Subtracting setup cost:</a:t>
            </a:r>
          </a:p>
          <a:p>
            <a:pPr marL="0" indent="0">
              <a:buNone/>
            </a:pPr>
            <a:r>
              <a:rPr lang="en-IN" dirty="0"/>
              <a:t>322-162=160Crore Net profit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B947A5-D914-5156-8FB0-8510FB26A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776649"/>
              </p:ext>
            </p:extLst>
          </p:nvPr>
        </p:nvGraphicFramePr>
        <p:xfrm>
          <a:off x="2032986" y="2840854"/>
          <a:ext cx="2130642" cy="1367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5321">
                  <a:extLst>
                    <a:ext uri="{9D8B030D-6E8A-4147-A177-3AD203B41FA5}">
                      <a16:colId xmlns:a16="http://schemas.microsoft.com/office/drawing/2014/main" val="2029653198"/>
                    </a:ext>
                  </a:extLst>
                </a:gridCol>
                <a:gridCol w="1065321">
                  <a:extLst>
                    <a:ext uri="{9D8B030D-6E8A-4147-A177-3AD203B41FA5}">
                      <a16:colId xmlns:a16="http://schemas.microsoft.com/office/drawing/2014/main" val="2903494421"/>
                    </a:ext>
                  </a:extLst>
                </a:gridCol>
              </a:tblGrid>
              <a:tr h="2278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Profit(Cr)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1990797"/>
                  </a:ext>
                </a:extLst>
              </a:tr>
              <a:tr h="2278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53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2719659"/>
                  </a:ext>
                </a:extLst>
              </a:tr>
              <a:tr h="2278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48773400"/>
                  </a:ext>
                </a:extLst>
              </a:tr>
              <a:tr h="2278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66612660"/>
                  </a:ext>
                </a:extLst>
              </a:tr>
              <a:tr h="2278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32701009"/>
                  </a:ext>
                </a:extLst>
              </a:tr>
              <a:tr h="2278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77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2713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431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87C9A-7EE6-83C2-CFA6-82EF99373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After 10 years(Long-term)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2335-0E1F-18D4-9199-F13FF9EDF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Continuing 10% growth:</a:t>
            </a:r>
          </a:p>
          <a:p>
            <a:endParaRPr lang="en-US" dirty="0"/>
          </a:p>
          <a:p>
            <a:r>
              <a:rPr lang="en-US" dirty="0"/>
              <a:t>Total Profit of 10 years</a:t>
            </a:r>
          </a:p>
          <a:p>
            <a:pPr marL="0" indent="0">
              <a:buNone/>
            </a:pPr>
            <a:r>
              <a:rPr lang="en-US" dirty="0"/>
              <a:t>  = 841 Crore</a:t>
            </a:r>
          </a:p>
          <a:p>
            <a:r>
              <a:rPr lang="en-US" dirty="0"/>
              <a:t>After subtracting setup cost</a:t>
            </a:r>
          </a:p>
          <a:p>
            <a:pPr marL="0" indent="0">
              <a:buNone/>
            </a:pPr>
            <a:r>
              <a:rPr lang="en-US" dirty="0"/>
              <a:t> 841-162= 679 Crore Net Profit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244464-0027-4247-253F-133F416DE8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652941"/>
              </p:ext>
            </p:extLst>
          </p:nvPr>
        </p:nvGraphicFramePr>
        <p:xfrm>
          <a:off x="5948040" y="2556932"/>
          <a:ext cx="2974020" cy="23042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7010">
                  <a:extLst>
                    <a:ext uri="{9D8B030D-6E8A-4147-A177-3AD203B41FA5}">
                      <a16:colId xmlns:a16="http://schemas.microsoft.com/office/drawing/2014/main" val="370700259"/>
                    </a:ext>
                  </a:extLst>
                </a:gridCol>
                <a:gridCol w="1487010">
                  <a:extLst>
                    <a:ext uri="{9D8B030D-6E8A-4147-A177-3AD203B41FA5}">
                      <a16:colId xmlns:a16="http://schemas.microsoft.com/office/drawing/2014/main" val="2172140897"/>
                    </a:ext>
                  </a:extLst>
                </a:gridCol>
              </a:tblGrid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Profit(Cr)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9993908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5904365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3756626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year 3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3408291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00416211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2292533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86346862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94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5165977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6646964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year 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716108"/>
                  </a:ext>
                </a:extLst>
              </a:tr>
              <a:tr h="2094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year 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124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7772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3273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93F74-3144-338B-FD5A-D99254D6A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Business Risks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AFDB1-D8E6-8C00-56F4-2D337DF75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1. Raw material Price Fluctuation</a:t>
            </a:r>
          </a:p>
          <a:p>
            <a:r>
              <a:rPr lang="en-US" dirty="0"/>
              <a:t> Battery materials like lithium, nickel and cobalt may increase in price.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2. Technology changes</a:t>
            </a:r>
          </a:p>
          <a:p>
            <a:r>
              <a:rPr lang="en-IN" dirty="0"/>
              <a:t>Rapid development in battery technology may require equipment upgrades.</a:t>
            </a:r>
          </a:p>
          <a:p>
            <a:pPr marL="0" indent="0">
              <a:buNone/>
            </a:pPr>
            <a:r>
              <a:rPr lang="en-IN" dirty="0"/>
              <a:t>3. Market Competition</a:t>
            </a:r>
          </a:p>
          <a:p>
            <a:r>
              <a:rPr lang="en-IN" dirty="0"/>
              <a:t>New battery manufactures or imports could reduce market share.</a:t>
            </a:r>
          </a:p>
          <a:p>
            <a:pPr marL="0" indent="0">
              <a:buNone/>
            </a:pPr>
            <a:r>
              <a:rPr lang="en-IN" dirty="0"/>
              <a:t>4. Regulatory &amp; Environmental Compliance</a:t>
            </a:r>
          </a:p>
          <a:p>
            <a:r>
              <a:rPr lang="en-IN" dirty="0"/>
              <a:t>Battery manufacturing must follow strict pollution and recycling regulations.</a:t>
            </a:r>
          </a:p>
          <a:p>
            <a:pPr marL="0" indent="0">
              <a:buNone/>
            </a:pPr>
            <a:r>
              <a:rPr lang="en-IN" dirty="0"/>
              <a:t>5. Supply chain </a:t>
            </a:r>
          </a:p>
          <a:p>
            <a:r>
              <a:rPr lang="en-IN" dirty="0"/>
              <a:t>Delays in raw material supply or transportation could affect production.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155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2A43-9FA9-3F97-1C53-6EFCF02BD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4542F-98F2-E9C6-A523-2C5167E98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Sanand offers the highest revenue potential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Strong industrial infrastructure and logistics connectivity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Availability of skilled workforce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Setup cost recovered in about 3 years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Potential 10-year net profit of around 679Crore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Sanand is the most strategic and profitable location for establishing the reusable battery manufacturing factory.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6006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D678-315A-A51C-BFAC-D9290BBF2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2284851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3F318-8B50-A3EA-61F4-8572039D8CA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1295401" y="5875868"/>
            <a:ext cx="9601196" cy="107682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9382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190</TotalTime>
  <Words>794</Words>
  <Application>Microsoft Office PowerPoint</Application>
  <PresentationFormat>Widescreen</PresentationFormat>
  <Paragraphs>188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Garamond</vt:lpstr>
      <vt:lpstr>Wingdings</vt:lpstr>
      <vt:lpstr>Organic</vt:lpstr>
      <vt:lpstr>Gujarat Reusable  Battery Factory</vt:lpstr>
      <vt:lpstr>Introduction:</vt:lpstr>
      <vt:lpstr>Reason for case study</vt:lpstr>
      <vt:lpstr>Cities Considered in the analysis</vt:lpstr>
      <vt:lpstr>Factory Setup Cost Analysis</vt:lpstr>
      <vt:lpstr>Operational Cost Analysis</vt:lpstr>
      <vt:lpstr>Revenue Potential</vt:lpstr>
      <vt:lpstr>Why Sanand is the best Location ??</vt:lpstr>
      <vt:lpstr>Factory Setup Cost Recovery</vt:lpstr>
      <vt:lpstr>Profit After 5 Years</vt:lpstr>
      <vt:lpstr>Profit After 10 years(Long-term)</vt:lpstr>
      <vt:lpstr>Major Business Risks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2026-03-13T08:40:59Z</dcterms:created>
  <dcterms:modified xsi:type="dcterms:W3CDTF">2026-03-14T07:37:20Z</dcterms:modified>
</cp:coreProperties>
</file>